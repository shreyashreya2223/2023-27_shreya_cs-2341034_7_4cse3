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900684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17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77266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12A4A"/>
                </a:solidFill>
                <a:latin typeface="Aptos"/>
              </a:defRPr>
            </a:pPr>
            <a:r>
              <a:t>GESTUREVOLUME:</a:t>
            </a:r>
            <a:br/>
            <a:r>
              <a:t>VOLUME CONTROL WITH HAND GESTURES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A6774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79476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SHREYA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422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Enrollment / Roll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14223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CS-2341034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970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489704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B.Tech CSE (AI/ML) • Semester VII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3717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8371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3CSE3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84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184648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Infosys Springboard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53212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Internship 7.0 (B1)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795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774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87959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32B34"/>
                </a:solidFill>
                <a:latin typeface="Aptos"/>
              </a:defRPr>
            </a:pPr>
            <a:r>
              <a:t>19 June 2026 – 14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960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TOUCHLESS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508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Volume</a:t>
            </a:r>
            <a:br/>
            <a:r>
              <a:t>Control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0" y="3383280"/>
            <a:ext cx="914400" cy="914400"/>
          </a:xfrm>
          <a:prstGeom prst="ellipse">
            <a:avLst/>
          </a:prstGeom>
          <a:noFill/>
          <a:ln w="25400">
            <a:solidFill>
              <a:srgbClr val="23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04704" y="3529584"/>
            <a:ext cx="621792" cy="621792"/>
          </a:xfrm>
          <a:prstGeom prst="ellipse">
            <a:avLst/>
          </a:prstGeom>
          <a:noFill/>
          <a:ln w="25400">
            <a:solidFill>
              <a:srgbClr val="23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51008" y="3675888"/>
            <a:ext cx="329184" cy="329184"/>
          </a:xfrm>
          <a:prstGeom prst="ellipse">
            <a:avLst/>
          </a:prstGeom>
          <a:noFill/>
          <a:ln w="25400">
            <a:solidFill>
              <a:srgbClr val="23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892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Webcam • AI Vision</a:t>
            </a:r>
            <a:br/>
            <a:r>
              <a:t>• Real-time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74519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Infosys Springboard provided a structured virtual internship environment focused on practical, project-based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874519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874519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Virtual Internship 7.0 (Batch 1), completed from 19 June 2026 to 14 August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29000" cy="1874519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25880"/>
            <a:ext cx="73152" cy="1874519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92807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GestureVolume — a real-time computer-vision system for controlling computer volume through hand gestures.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A4A"/>
                </a:solidFill>
                <a:latin typeface="Aptos"/>
              </a:defRPr>
            </a:pPr>
            <a:r>
              <a:t>What I worked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Applied computer-vision concepts to a real-time user interaction problem.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Integrated hand landmark detection, gesture measurement, audio control and a browser dashboard.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Implemented calibration, smoothing, detection controls, FPS monitoring and volume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A4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4"/>
                </a:solidFill>
                <a:latin typeface="Aptos"/>
              </a:defRPr>
            </a:pPr>
            <a:r>
              <a:t>Traditional computer-volume control usually requires physical interaction through a keyboard, mouse, touch interface or dedicated hardware.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03520" y="2148840"/>
            <a:ext cx="1554480" cy="7315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2344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A4A"/>
                </a:solidFill>
                <a:latin typeface="Aptos"/>
              </a:defRPr>
            </a:pPr>
            <a:r>
              <a:t>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3736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4"/>
                </a:solidFill>
                <a:latin typeface="Aptos"/>
              </a:defRPr>
            </a:pPr>
            <a:r>
              <a:t>Use a webcam to detect hand landmarks, measure the thumb–index distance, map it to a volume percentage and provide immediate visual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3154680" cy="114300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251960"/>
            <a:ext cx="73152" cy="1143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165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1888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Live webcam frames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251960"/>
            <a:ext cx="3154680" cy="114300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4251960"/>
            <a:ext cx="73152" cy="1143000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4165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81888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Hand landmarks + distance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251960"/>
            <a:ext cx="3154680" cy="114300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4251960"/>
            <a:ext cx="73152" cy="1143000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4165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81888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System volume +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234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52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216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Develop a real-time hand-gesture mechanism for system-volume control.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234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52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216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Capture and process live webcam frames using OpenCV.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377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359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Detect hand landmarks using MediaPipe Hands.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377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95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359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Map thumb–index distance to a 0–100% volume range.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520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38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502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Apply smoothing to reduce unstable frame-to-frame changes.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520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538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502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Integrate the vision loop with a Flask-powered dashboard.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663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81727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645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Provide manual minimum/maximum calibration.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466344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681727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645152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Provide detection controls and performance feedback such as FPS.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737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Core application and computer-vision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737360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92807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Webcam capture, processing, drawing and frame encoding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73152" cy="1737360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MediaPipe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892807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Real-time hand landmark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04164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Web backend, dashboard and live video/status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74720"/>
            <a:ext cx="73152" cy="1737360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HTML / CSS / JavaScript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04164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Dashboard structure, styling and client-side interaction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3429000" cy="17373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73152" cy="1737360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Pycaw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04164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Windows master-volume control through the audio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A4A"/>
                </a:solidFill>
                <a:latin typeface="Aptos"/>
              </a:defRPr>
            </a:pPr>
            <a:r>
              <a:t>Development focus: real-time computer vision + practical human–computer interaction.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gesturevolum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1069848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Methodology /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gesturevolum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977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977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2885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640 × 480 webcam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977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1" y="3977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1" y="42885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MediaPipe Hands • one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77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3977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2885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Thumb tip (4) ↔ index tip (8)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029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Calibrated distance → 0–100%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5029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Stabilize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1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Six-sample rolling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5029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A4A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774"/>
                </a:solidFill>
                <a:latin typeface="Aptos"/>
              </a:defRPr>
            </a:pPr>
            <a:r>
              <a:t>Pycaw updates Windows volume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Key Features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Real-time gesture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Change system volume by varying the distance between thumb and index finger.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280160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99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Manual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013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Set minimum and maximum observed gesture distances for adaptable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73152" cy="1280160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9992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Smoothing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015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Average recent values to reduce rapid volume fluctuations.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992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Live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015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View camera stream, current volume, detection status and FPS.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434840"/>
            <a:ext cx="73152" cy="1280160"/>
          </a:xfrm>
          <a:prstGeom prst="rect">
            <a:avLst/>
          </a:prstGeom>
          <a:solidFill>
            <a:srgbClr val="23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59943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Volume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0017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Track volume changes through a client-side history graph.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34840"/>
            <a:ext cx="5257800" cy="128016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34840"/>
            <a:ext cx="73152" cy="1280160"/>
          </a:xfrm>
          <a:prstGeom prst="rect">
            <a:avLst/>
          </a:prstGeom>
          <a:solidFill>
            <a:srgbClr val="2B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9943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A4A"/>
                </a:solidFill>
                <a:latin typeface="Aptos"/>
              </a:defRPr>
            </a:pPr>
            <a:r>
              <a:t>Detection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001768"/>
            <a:ext cx="48920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A6774"/>
                </a:solidFill>
                <a:latin typeface="Aptos"/>
              </a:defRPr>
            </a:pPr>
            <a:r>
              <a:t>Enable or pause gesture detection and switch dashboard theme.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Outcomes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12A4A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Functional real-time webcam-based hand detection.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Continuous gesture-to-volume conversion.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Stable volume behavior through short-window averaging.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Live dashboard feedback with stream, status, volume and FPS.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Windows system-volume control using Pycaw.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Calibration and detection controls for usability.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12A4A"/>
                </a:solidFill>
                <a:latin typeface="Aptos"/>
              </a:defRPr>
            </a:pPr>
            <a:r>
              <a:t>Skills strengthened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865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Python programming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7830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1865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551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MediaPipe hand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4688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2551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Flask web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546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2369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Frontend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1546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32369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Real-time system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9227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Debugging &amp;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840480"/>
            <a:ext cx="2331720" cy="475488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39227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B34"/>
                </a:solidFill>
                <a:latin typeface="Aptos"/>
              </a:defRPr>
            </a:pPr>
            <a:r>
              <a:t>Project 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3891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6774"/>
                </a:solidFill>
                <a:latin typeface="Aptos"/>
              </a:defRPr>
            </a:pPr>
            <a:r>
              <a:t>Infosys Springboard • Internship 7.0 (B1) • 19 June 2026 – 14 August 2026</a:t>
            </a:r>
          </a:p>
        </p:txBody>
      </p:sp>
      <p:pic>
        <p:nvPicPr>
          <p:cNvPr id="7" name="Picture 6" descr="9b463eec-b8af-4e2d-b3a4-8ae5ee751b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987552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12A4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Aptos"/>
              </a:defRPr>
            </a:pPr>
            <a:r>
              <a:t>GestureVolume: Volume Control with Hand Gestures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B34"/>
                </a:solidFill>
                <a:latin typeface="Aptos"/>
              </a:defRPr>
            </a:pPr>
            <a:r>
              <a:t>A practical demonstration of computer vision, real-time processing and touchless human–computer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977639"/>
            <a:ext cx="6675120" cy="1188720"/>
          </a:xfrm>
          <a:prstGeom prst="roundRect">
            <a:avLst/>
          </a:prstGeom>
          <a:solidFill>
            <a:srgbClr val="EEF7FD"/>
          </a:solidFill>
          <a:ln>
            <a:solidFill>
              <a:srgbClr val="D2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18795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2A4A"/>
                </a:solidFill>
                <a:latin typeface="Aptos"/>
              </a:defRPr>
            </a:pPr>
            <a:r>
              <a:t>SHREYA  •  CS-2341034  •  B.Tech CSE (AI/ML), VII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6177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A6774"/>
                </a:solidFill>
                <a:latin typeface="Aptos"/>
              </a:defRPr>
            </a:pPr>
            <a:r>
              <a:t>Infosys Springboard Internship 7.0 (B1)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774"/>
                </a:solidFill>
              </a:defRPr>
            </a:pPr>
            <a:r>
              <a:t>IILM University • Infosys Springboard Internship 7.0 (B1)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